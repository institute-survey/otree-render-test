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CC0000"/>
    <a:srgbClr val="E4E4E4"/>
    <a:srgbClr val="BE1A20"/>
    <a:srgbClr val="E3E3E3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CA747-25D6-4865-9F1F-AA6806C1E27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93700-D43F-4B4E-A992-07957FB72F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01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発信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DC167-CFB1-19C5-2DB0-9B8744C3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9BD6-30D6-408D-A622-38DD126C701F}" type="datetime1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66A27B-6AEC-34E9-2157-68B98BFB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50441-3152-BA8B-FD77-1A55E983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18D4FB18-D5DC-3C35-6153-368DA411D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364" y="765314"/>
            <a:ext cx="11745272" cy="2754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7987477-365F-A052-CC7A-890BD4860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364" y="3671615"/>
            <a:ext cx="11745272" cy="810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3" name="テキスト プレースホルダー 11">
            <a:extLst>
              <a:ext uri="{FF2B5EF4-FFF2-40B4-BE49-F238E27FC236}">
                <a16:creationId xmlns:a16="http://schemas.microsoft.com/office/drawing/2014/main" id="{2D2A57B3-7355-8525-E517-7D42487B7B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3364" y="5565431"/>
            <a:ext cx="11745272" cy="6254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ja-JP" altLang="en-US" dirty="0"/>
              <a:t>梅谷</a:t>
            </a:r>
          </a:p>
        </p:txBody>
      </p:sp>
    </p:spTree>
    <p:extLst>
      <p:ext uri="{BB962C8B-B14F-4D97-AF65-F5344CB8AC3E}">
        <p14:creationId xmlns:p14="http://schemas.microsoft.com/office/powerpoint/2010/main" val="269197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19265F-8102-205A-2A38-1296782D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2D9F-195D-401C-A962-E6E19E8629A8}" type="datetime1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713CA0-68C8-663F-0A64-486988B5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BC1493-1FEB-A127-2F06-BD2AE42C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FCA49ED-CE99-3DAB-36C9-F11226D70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3364" y="574630"/>
            <a:ext cx="11745272" cy="469776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2880"/>
              </a:lnSpc>
              <a:defRPr sz="3600" b="1"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マスタータイトルの書式設定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A59F90D-D3AB-8E96-0492-F305393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64" y="1183086"/>
            <a:ext cx="11745272" cy="4993877"/>
          </a:xfrm>
          <a:prstGeom prst="rect">
            <a:avLst/>
          </a:prstGeom>
        </p:spPr>
        <p:txBody>
          <a:bodyPr/>
          <a:lstStyle>
            <a:lvl1pPr marL="360363" indent="-360363">
              <a:lnSpc>
                <a:spcPct val="100000"/>
              </a:lnSpc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  <a:defRPr sz="2800" b="0"/>
            </a:lvl1pPr>
            <a:lvl2pPr marL="685800" indent="-417513">
              <a:lnSpc>
                <a:spcPct val="100000"/>
              </a:lnSpc>
              <a:spcAft>
                <a:spcPts val="0"/>
              </a:spcAft>
              <a:buClr>
                <a:srgbClr val="B40000"/>
              </a:buClr>
              <a:buSzPct val="90000"/>
              <a:buFont typeface="Wingdings" panose="05000000000000000000" pitchFamily="2" charset="2"/>
              <a:buChar char="p"/>
              <a:defRPr sz="2400" b="0"/>
            </a:lvl2pPr>
            <a:lvl3pPr marL="806450" indent="-360363">
              <a:lnSpc>
                <a:spcPct val="100000"/>
              </a:lnSpc>
              <a:spcAft>
                <a:spcPts val="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  <a:defRPr sz="2000" b="0"/>
            </a:lvl3pPr>
            <a:lvl4pPr marL="896938" indent="-268288">
              <a:lnSpc>
                <a:spcPct val="100000"/>
              </a:lnSpc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  <a:defRPr sz="1800" b="0"/>
            </a:lvl4pPr>
            <a:lvl5pPr marL="2057400" indent="-228600">
              <a:lnSpc>
                <a:spcPct val="14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3274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75AC0C-B3B0-2C30-A81E-A3720CFE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621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750D30-CC2E-39AF-FF8A-32E660415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06C6B2-E340-8482-2DE2-DCBB630F4D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FD0151-0264-3CA8-EEED-CE2FCA26AC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0308247-AC26-4C8D-A6BA-73F766315830}" type="datetime1">
              <a:rPr kumimoji="1" lang="ja-JP" altLang="en-US" smtClean="0"/>
              <a:t>2026/8/3</a:t>
            </a:fld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FEBD789-A854-B12E-41BC-CE483BF093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1551" y="1365038"/>
            <a:ext cx="5598540" cy="5061763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BE1A20"/>
              </a:buClr>
              <a:buFont typeface="Wingdings" panose="05000000000000000000" pitchFamily="2" charset="2"/>
              <a:buChar char="n"/>
              <a:defRPr/>
            </a:lvl1pPr>
            <a:lvl2pPr marL="538163" indent="-360363"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tabLst>
                <a:tab pos="538163" algn="l"/>
              </a:tabLst>
              <a:defRPr/>
            </a:lvl2pPr>
            <a:lvl3pPr marL="719138" indent="-358775"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  <a:defRPr/>
            </a:lvl3pPr>
            <a:lvl4pPr marL="892175" indent="-354013">
              <a:buClr>
                <a:srgbClr val="C00000"/>
              </a:buClr>
              <a:buFont typeface="Wingdings" panose="05000000000000000000" pitchFamily="2" charset="2"/>
              <a:buChar char="u"/>
              <a:defRPr/>
            </a:lvl4pPr>
            <a:lvl5pPr marL="1074738" indent="-355600">
              <a:buClr>
                <a:srgbClr val="C0000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コンテンツ プレースホルダー 6">
            <a:extLst>
              <a:ext uri="{FF2B5EF4-FFF2-40B4-BE49-F238E27FC236}">
                <a16:creationId xmlns:a16="http://schemas.microsoft.com/office/drawing/2014/main" id="{47A9A853-CB16-3FAE-EB7B-95636B5499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70096" y="1365037"/>
            <a:ext cx="5598540" cy="5061763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BE1A20"/>
              </a:buClr>
              <a:buFont typeface="Wingdings" panose="05000000000000000000" pitchFamily="2" charset="2"/>
              <a:buChar char="n"/>
              <a:defRPr/>
            </a:lvl1pPr>
            <a:lvl2pPr marL="538163" indent="-360363"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tabLst>
                <a:tab pos="538163" algn="l"/>
              </a:tabLst>
              <a:defRPr/>
            </a:lvl2pPr>
            <a:lvl3pPr marL="719138" indent="-358775"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  <a:defRPr/>
            </a:lvl3pPr>
            <a:lvl4pPr marL="892175" indent="-354013">
              <a:buClr>
                <a:srgbClr val="C00000"/>
              </a:buClr>
              <a:buFont typeface="Wingdings" panose="05000000000000000000" pitchFamily="2" charset="2"/>
              <a:buChar char="u"/>
              <a:defRPr/>
            </a:lvl4pPr>
            <a:lvl5pPr marL="1074738" indent="-355600">
              <a:buClr>
                <a:srgbClr val="C0000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177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ヘッダー タイトル 発信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8329B4-87C8-EDA4-3BF5-D6F1EAE9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789E9-4961-48CF-A94B-8D98B6C6B9D3}" type="datetime1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3B1444-457F-27E6-CDB4-BB6440E7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594E58-45BB-0F0A-D259-179B5E80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6ACDC1F1-BDA7-7557-1726-8F709EBA1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364" y="1414129"/>
            <a:ext cx="11745272" cy="210577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98AFC000-5ED3-FA86-1156-4D9CBA2CD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364" y="3671615"/>
            <a:ext cx="11745272" cy="810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24E7CC3-6C62-2413-0839-43665DBEE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3364" y="5565431"/>
            <a:ext cx="11745272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ja-JP" altLang="en-US" dirty="0"/>
              <a:t>梅谷</a:t>
            </a:r>
          </a:p>
        </p:txBody>
      </p:sp>
      <p:sp>
        <p:nvSpPr>
          <p:cNvPr id="13" name="テキスト プレースホルダー 11">
            <a:extLst>
              <a:ext uri="{FF2B5EF4-FFF2-40B4-BE49-F238E27FC236}">
                <a16:creationId xmlns:a16="http://schemas.microsoft.com/office/drawing/2014/main" id="{77FBAD78-3F46-540C-175F-4440FB244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2106" y="785349"/>
            <a:ext cx="2436530" cy="4737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pPr lvl="0"/>
            <a:r>
              <a:rPr kumimoji="1" lang="ja-JP" altLang="en-US" dirty="0"/>
              <a:t>機密性＊＊情報　＊＊限り</a:t>
            </a:r>
          </a:p>
        </p:txBody>
      </p:sp>
    </p:spTree>
    <p:extLst>
      <p:ext uri="{BB962C8B-B14F-4D97-AF65-F5344CB8AC3E}">
        <p14:creationId xmlns:p14="http://schemas.microsoft.com/office/powerpoint/2010/main" val="361009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6734889-2F6E-5512-09F4-5DD9FE91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B43CD-7460-4305-AB4F-ADA2688F659A}" type="datetime1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1A5343-7E07-A6DF-C64E-31FFB24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8DC975-F4D0-DCC3-0553-FEF9D50A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9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34BBE37-253E-B3C6-6041-E0F7219D6BC5}"/>
              </a:ext>
            </a:extLst>
          </p:cNvPr>
          <p:cNvSpPr/>
          <p:nvPr userDrawn="1"/>
        </p:nvSpPr>
        <p:spPr>
          <a:xfrm>
            <a:off x="0" y="6519096"/>
            <a:ext cx="12192000" cy="338904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highlight>
                <a:srgbClr val="FFFF00"/>
              </a:highlight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DCC59A9-B443-77BF-0601-0B6A31793A3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64" y="6631255"/>
            <a:ext cx="1979756" cy="131576"/>
          </a:xfrm>
          <a:prstGeom prst="rect">
            <a:avLst/>
          </a:prstGeom>
        </p:spPr>
      </p:pic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B672E5-845B-3B59-AB34-B2AE684D0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2308" y="6529728"/>
            <a:ext cx="2743200" cy="33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666666"/>
                </a:solidFill>
              </a:defRPr>
            </a:lvl1pPr>
          </a:lstStyle>
          <a:p>
            <a:endParaRPr kumimoji="1" lang="ja-JP" altLang="en-US" dirty="0"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69FAEB88-A727-6DE9-B5C5-BEF36AE49D1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600" y="250059"/>
            <a:ext cx="941324" cy="28553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BDFAA2C-4D8F-5F9F-1856-F300449A5748}"/>
              </a:ext>
            </a:extLst>
          </p:cNvPr>
          <p:cNvSpPr/>
          <p:nvPr userDrawn="1"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391232-0F90-DC64-B5A8-C6D235BFF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5436" y="6525453"/>
            <a:ext cx="2743200" cy="3431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FE59AEF-40E3-482D-A09E-CDF92FC7E1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8621A7-5073-04B8-BE7F-32F2E04BC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58872" y="6529728"/>
            <a:ext cx="2743200" cy="33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0308247-AC26-4C8D-A6BA-73F766315830}" type="datetime1">
              <a:rPr kumimoji="1" lang="ja-JP" altLang="en-US" smtClean="0"/>
              <a:t>2026/8/3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473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5" r:id="rId4"/>
    <p:sldLayoutId id="214748367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3CFD1C2-5807-1282-CD03-77D6BEA3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2BDA168-4BB0-8787-C2DB-0FF6673C2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364" y="1409699"/>
            <a:ext cx="11745272" cy="2110203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我慢戦略（先行研究的には寛容性）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4D0A62-4F33-F544-E8ED-4713C82E8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5F895E44-2B61-2B69-1B55-9EB8C99085AF}"/>
              </a:ext>
            </a:extLst>
          </p:cNvPr>
          <p:cNvSpPr txBox="1">
            <a:spLocks/>
          </p:cNvSpPr>
          <p:nvPr/>
        </p:nvSpPr>
        <p:spPr>
          <a:xfrm>
            <a:off x="9532106" y="785349"/>
            <a:ext cx="2436530" cy="4737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/>
              <a:t>機密性</a:t>
            </a:r>
            <a:r>
              <a:rPr lang="en-US" altLang="ja-JP" dirty="0"/>
              <a:t>2</a:t>
            </a:r>
            <a:r>
              <a:rPr kumimoji="1" lang="ja-JP" altLang="en-US" sz="1400" dirty="0"/>
              <a:t>情報　所内限り</a:t>
            </a:r>
          </a:p>
        </p:txBody>
      </p:sp>
    </p:spTree>
    <p:extLst>
      <p:ext uri="{BB962C8B-B14F-4D97-AF65-F5344CB8AC3E}">
        <p14:creationId xmlns:p14="http://schemas.microsoft.com/office/powerpoint/2010/main" val="187415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CB8D8C7-2609-6BA7-9FA0-8D664008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CA60B82-23F5-6C50-BAD0-D5738EC8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問題の背景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7B2350-B4A0-B1C0-0C83-BEEE6C439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アーカイブに基づく相互作用</a:t>
            </a:r>
            <a:endParaRPr kumimoji="1" lang="en-US" altLang="ja-JP" dirty="0"/>
          </a:p>
          <a:p>
            <a:pPr lvl="1"/>
            <a:r>
              <a:rPr lang="ja-JP" altLang="en-US" dirty="0"/>
              <a:t>インターネットの普及が変えたコミュニケーション</a:t>
            </a:r>
            <a:endParaRPr lang="en-US" altLang="ja-JP" dirty="0"/>
          </a:p>
          <a:p>
            <a:pPr lvl="2"/>
            <a:r>
              <a:rPr lang="ja-JP" altLang="en-US" dirty="0"/>
              <a:t>地理的制約（どこでも）</a:t>
            </a:r>
            <a:endParaRPr lang="en-US" altLang="ja-JP" dirty="0"/>
          </a:p>
          <a:p>
            <a:pPr lvl="2"/>
            <a:r>
              <a:rPr kumimoji="1" lang="ja-JP" altLang="en-US" dirty="0"/>
              <a:t>社会的制約（だれとでも）</a:t>
            </a:r>
            <a:endParaRPr kumimoji="1" lang="en-US" altLang="ja-JP" dirty="0"/>
          </a:p>
          <a:p>
            <a:pPr lvl="2"/>
            <a:r>
              <a:rPr lang="ja-JP" altLang="en-US" b="1" dirty="0"/>
              <a:t>記録に残る</a:t>
            </a:r>
            <a:endParaRPr lang="en-US" altLang="ja-JP" b="1" dirty="0"/>
          </a:p>
          <a:p>
            <a:pPr lvl="2"/>
            <a:endParaRPr kumimoji="1" lang="en-US" altLang="ja-JP" b="1" dirty="0"/>
          </a:p>
          <a:p>
            <a:r>
              <a:rPr lang="ja-JP" altLang="en-US" b="1" dirty="0"/>
              <a:t>忘却は適応の産物なのでは？</a:t>
            </a:r>
            <a:endParaRPr lang="en-US" altLang="ja-JP" b="1" dirty="0"/>
          </a:p>
          <a:p>
            <a:pPr lvl="1"/>
            <a:r>
              <a:rPr kumimoji="1" lang="ja-JP" altLang="en-US" dirty="0"/>
              <a:t>情報の価値を取捨選択し、記憶として残すのは一つの生存戦略の可能性</a:t>
            </a:r>
            <a:r>
              <a:rPr kumimoji="1" lang="ja-JP" altLang="en-US" sz="1800" b="1" dirty="0"/>
              <a:t>（</a:t>
            </a:r>
            <a:r>
              <a:rPr lang="ja-JP" altLang="ja-JP" sz="1800" dirty="0"/>
              <a:t>Hardt O, Nader K, Nadel L</a:t>
            </a:r>
            <a:r>
              <a:rPr lang="en-US" altLang="ja-JP" sz="1800" dirty="0"/>
              <a:t>, 2013; </a:t>
            </a:r>
            <a:r>
              <a:rPr lang="ja-JP" altLang="ja-JP" sz="1800" dirty="0"/>
              <a:t>Anderson MC, Hulbert JC</a:t>
            </a:r>
            <a:r>
              <a:rPr lang="en-US" altLang="ja-JP" sz="1800" dirty="0"/>
              <a:t>, 2020</a:t>
            </a:r>
            <a:r>
              <a:rPr lang="ja-JP" altLang="en-US" sz="1800" dirty="0"/>
              <a:t>）</a:t>
            </a:r>
            <a:endParaRPr lang="en-US" altLang="ja-JP" sz="1800" dirty="0"/>
          </a:p>
          <a:p>
            <a:pPr lvl="1"/>
            <a:r>
              <a:rPr lang="ja-JP" altLang="en-US" dirty="0"/>
              <a:t>忘却とアーカイブは相反する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8416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37AF-A694-9D58-CA32-276E57B1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89CE20E-416E-7E95-F25E-0E77B60E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421FD88-3E79-431C-E998-3847C0AE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問題の背景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7BB857-8838-4922-05C2-8C1CB1509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3200" dirty="0"/>
              <a:t>我慢の適応的な説明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モデル化する際には協力の文脈だと寛容性と呼ばれる</a:t>
            </a:r>
            <a:endParaRPr kumimoji="1" lang="en-US" altLang="ja-JP" sz="2800" dirty="0"/>
          </a:p>
          <a:p>
            <a:pPr lvl="1"/>
            <a:r>
              <a:rPr lang="ja-JP" altLang="en-US" sz="2800" dirty="0"/>
              <a:t>我慢は一見コストリー、でも協力の進化等に寄与する適応的な戦略なのでは？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3374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89054E5-BEBC-3251-391F-E2129921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42B5F22-2CFD-ADFA-43DE-A72412AD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モデル（和田君のモデルと同じ？近い？）</a:t>
            </a:r>
            <a:endParaRPr kumimoji="1" lang="ja-JP" altLang="en-US" dirty="0"/>
          </a:p>
        </p:txBody>
      </p:sp>
      <p:sp>
        <p:nvSpPr>
          <p:cNvPr id="7" name="コンテンツ プレースホルダー 3">
            <a:extLst>
              <a:ext uri="{FF2B5EF4-FFF2-40B4-BE49-F238E27FC236}">
                <a16:creationId xmlns:a16="http://schemas.microsoft.com/office/drawing/2014/main" id="{8BAECFFE-CF2D-B563-EDE2-F60504FF2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64" y="1183086"/>
            <a:ext cx="11745272" cy="499387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ギビングゲーム（</a:t>
            </a:r>
            <a:r>
              <a:rPr kumimoji="1" lang="en-US" altLang="ja-JP" dirty="0"/>
              <a:t>Well-mixed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marL="839787" lvl="1" indent="-514350"/>
            <a:r>
              <a:rPr lang="ja-JP" altLang="en-US" dirty="0"/>
              <a:t>集団からランダムに</a:t>
            </a:r>
            <a:r>
              <a:rPr lang="en-US" altLang="ja-JP" dirty="0"/>
              <a:t>2</a:t>
            </a:r>
            <a:r>
              <a:rPr lang="ja-JP" altLang="en-US" dirty="0"/>
              <a:t>人選択</a:t>
            </a:r>
            <a:endParaRPr lang="en-US" altLang="ja-JP" dirty="0"/>
          </a:p>
          <a:p>
            <a:pPr marL="839787" lvl="1" indent="-514350"/>
            <a:r>
              <a:rPr kumimoji="1" lang="ja-JP" altLang="en-US" dirty="0"/>
              <a:t>青がドナー、オレンジがレシピエント</a:t>
            </a:r>
            <a:endParaRPr lang="en-US" altLang="ja-JP" dirty="0"/>
          </a:p>
          <a:p>
            <a:pPr marL="839787" lvl="1" indent="-514350"/>
            <a:r>
              <a:rPr kumimoji="1" lang="ja-JP" altLang="en-US" dirty="0"/>
              <a:t>青はオレンジの評判に基づき行動を決める</a:t>
            </a:r>
            <a:endParaRPr kumimoji="1" lang="en-US" altLang="ja-JP" dirty="0"/>
          </a:p>
          <a:p>
            <a:pPr marL="839787" lvl="1" indent="-514350"/>
            <a:r>
              <a:rPr lang="ja-JP" altLang="en-US" dirty="0"/>
              <a:t>協力コスト</a:t>
            </a:r>
            <a:r>
              <a:rPr lang="en-US" altLang="ja-JP" dirty="0"/>
              <a:t>1</a:t>
            </a:r>
            <a:r>
              <a:rPr lang="ja-JP" altLang="en-US" dirty="0"/>
              <a:t>、オレンジが得る利益</a:t>
            </a:r>
            <a:r>
              <a:rPr lang="en-US" altLang="ja-JP" dirty="0"/>
              <a:t>1~5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>
                <a:solidFill>
                  <a:schemeClr val="bg1">
                    <a:lumMod val="85000"/>
                  </a:schemeClr>
                </a:solidFill>
              </a:rPr>
              <a:t>ドナーの評判の更新</a:t>
            </a:r>
            <a:endParaRPr kumimoji="1" lang="en-US" altLang="ja-JP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dirty="0">
                <a:solidFill>
                  <a:schemeClr val="bg1">
                    <a:lumMod val="85000"/>
                  </a:schemeClr>
                </a:solidFill>
              </a:rPr>
              <a:t>進化</a:t>
            </a:r>
            <a:endParaRPr kumimoji="1" lang="en-US" altLang="ja-JP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BAC4463-9AB3-BF49-4EC8-A64157D0555E}"/>
              </a:ext>
            </a:extLst>
          </p:cNvPr>
          <p:cNvSpPr/>
          <p:nvPr/>
        </p:nvSpPr>
        <p:spPr>
          <a:xfrm>
            <a:off x="7553112" y="1514324"/>
            <a:ext cx="720000" cy="72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6735AA88-1CD9-691E-5445-609FD0C71932}"/>
              </a:ext>
            </a:extLst>
          </p:cNvPr>
          <p:cNvSpPr/>
          <p:nvPr/>
        </p:nvSpPr>
        <p:spPr>
          <a:xfrm>
            <a:off x="9334187" y="1514323"/>
            <a:ext cx="720000" cy="72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47D765E-3675-7423-E06E-3BCCB4FB8FE2}"/>
              </a:ext>
            </a:extLst>
          </p:cNvPr>
          <p:cNvCxnSpPr>
            <a:cxnSpLocks/>
          </p:cNvCxnSpPr>
          <p:nvPr/>
        </p:nvCxnSpPr>
        <p:spPr>
          <a:xfrm>
            <a:off x="8457384" y="1828383"/>
            <a:ext cx="682281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29FEB803-19CF-7AEB-B16A-15434BB9D594}"/>
              </a:ext>
            </a:extLst>
          </p:cNvPr>
          <p:cNvSpPr/>
          <p:nvPr/>
        </p:nvSpPr>
        <p:spPr>
          <a:xfrm>
            <a:off x="7979343" y="3887184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07B8CD77-79EF-C8B0-FA49-554A7212DB36}"/>
              </a:ext>
            </a:extLst>
          </p:cNvPr>
          <p:cNvSpPr/>
          <p:nvPr/>
        </p:nvSpPr>
        <p:spPr>
          <a:xfrm>
            <a:off x="10656401" y="3396201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FC55A59-9D44-BE06-52FC-3387B6601E00}"/>
              </a:ext>
            </a:extLst>
          </p:cNvPr>
          <p:cNvSpPr/>
          <p:nvPr/>
        </p:nvSpPr>
        <p:spPr>
          <a:xfrm>
            <a:off x="8303890" y="3236875"/>
            <a:ext cx="394363" cy="375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04056476-3254-1718-D169-10E548E524D2}"/>
              </a:ext>
            </a:extLst>
          </p:cNvPr>
          <p:cNvSpPr/>
          <p:nvPr/>
        </p:nvSpPr>
        <p:spPr>
          <a:xfrm>
            <a:off x="10870555" y="3961129"/>
            <a:ext cx="394363" cy="375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9294137-9F8A-BDC9-61F7-A8B0E64C6C95}"/>
              </a:ext>
            </a:extLst>
          </p:cNvPr>
          <p:cNvSpPr/>
          <p:nvPr/>
        </p:nvSpPr>
        <p:spPr>
          <a:xfrm>
            <a:off x="8301553" y="4455167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CECA72B-B553-4932-747B-D7AFCC02DF2A}"/>
              </a:ext>
            </a:extLst>
          </p:cNvPr>
          <p:cNvSpPr/>
          <p:nvPr/>
        </p:nvSpPr>
        <p:spPr>
          <a:xfrm>
            <a:off x="9978925" y="4830807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777BDFC3-5C53-BD0F-72DC-D10D671C0F1B}"/>
              </a:ext>
            </a:extLst>
          </p:cNvPr>
          <p:cNvSpPr/>
          <p:nvPr/>
        </p:nvSpPr>
        <p:spPr>
          <a:xfrm>
            <a:off x="9864924" y="2980012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63332616-E89D-622B-0116-F9B62E7C59AE}"/>
              </a:ext>
            </a:extLst>
          </p:cNvPr>
          <p:cNvSpPr/>
          <p:nvPr/>
        </p:nvSpPr>
        <p:spPr>
          <a:xfrm>
            <a:off x="8990712" y="2959427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CD7CC88-95E4-B1FD-1BA8-302000408FB9}"/>
              </a:ext>
            </a:extLst>
          </p:cNvPr>
          <p:cNvSpPr/>
          <p:nvPr/>
        </p:nvSpPr>
        <p:spPr>
          <a:xfrm>
            <a:off x="9062876" y="4864089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C38ABAE7-02BF-B4D9-3810-9B468DCC1744}"/>
              </a:ext>
            </a:extLst>
          </p:cNvPr>
          <p:cNvSpPr/>
          <p:nvPr/>
        </p:nvSpPr>
        <p:spPr>
          <a:xfrm>
            <a:off x="10569177" y="4553847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90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DF591-82CE-C45E-4CAC-5689FA8A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E11D4E5-9DBB-0BE9-1BF1-37D9CC50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9AEF-40E3-482D-A09E-CDF92FC7E17F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931EB1C-B91C-6AC7-B038-F5CB93FC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モデル（和田君のモデルと同じ？近い？）</a:t>
            </a:r>
            <a:endParaRPr kumimoji="1" lang="ja-JP" altLang="en-US" dirty="0"/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CFC3AED2-4D88-B64A-EDD4-CD0E92C1E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64" y="1183086"/>
            <a:ext cx="11745272" cy="499387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>
                <a:solidFill>
                  <a:schemeClr val="bg1">
                    <a:lumMod val="85000"/>
                  </a:schemeClr>
                </a:solidFill>
              </a:rPr>
              <a:t>ギビングゲーム（</a:t>
            </a:r>
            <a:r>
              <a:rPr kumimoji="1" lang="en-US" altLang="ja-JP" dirty="0">
                <a:solidFill>
                  <a:schemeClr val="bg1">
                    <a:lumMod val="85000"/>
                  </a:schemeClr>
                </a:solidFill>
              </a:rPr>
              <a:t>Well-mixed</a:t>
            </a:r>
            <a:r>
              <a:rPr kumimoji="1" lang="ja-JP" altLang="en-US" dirty="0">
                <a:solidFill>
                  <a:schemeClr val="bg1">
                    <a:lumMod val="85000"/>
                  </a:schemeClr>
                </a:solidFill>
              </a:rPr>
              <a:t>）</a:t>
            </a:r>
            <a:endParaRPr kumimoji="1" lang="en-US" altLang="ja-JP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ドナーの評判の更新</a:t>
            </a:r>
            <a:endParaRPr kumimoji="1" lang="en-US" altLang="ja-JP" dirty="0"/>
          </a:p>
          <a:p>
            <a:pPr marL="839787" lvl="1" indent="-514350"/>
            <a:r>
              <a:rPr lang="ja-JP" altLang="en-US" dirty="0"/>
              <a:t>グレーは青の評判を更新</a:t>
            </a:r>
            <a:endParaRPr lang="en-US" altLang="ja-JP" dirty="0"/>
          </a:p>
          <a:p>
            <a:pPr marL="960437" lvl="2" indent="-514350"/>
            <a:r>
              <a:rPr kumimoji="1" lang="ja-JP" altLang="en-US" dirty="0"/>
              <a:t>使う情報：青の行動、オレンジの評判</a:t>
            </a:r>
            <a:endParaRPr kumimoji="1" lang="en-US" altLang="ja-JP" dirty="0"/>
          </a:p>
          <a:p>
            <a:pPr marL="839787" lvl="1" indent="-514350"/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>
                <a:solidFill>
                  <a:schemeClr val="bg1">
                    <a:lumMod val="85000"/>
                  </a:schemeClr>
                </a:solidFill>
              </a:rPr>
              <a:t>進化</a:t>
            </a:r>
            <a:endParaRPr kumimoji="1" lang="en-US" altLang="ja-JP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0DA5DDA0-C771-73E7-A9FF-9A68AA9B9A25}"/>
              </a:ext>
            </a:extLst>
          </p:cNvPr>
          <p:cNvSpPr/>
          <p:nvPr/>
        </p:nvSpPr>
        <p:spPr>
          <a:xfrm>
            <a:off x="8458845" y="1505657"/>
            <a:ext cx="720000" cy="72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CAD1488-DAC4-F46D-7149-B281B30764C0}"/>
              </a:ext>
            </a:extLst>
          </p:cNvPr>
          <p:cNvSpPr/>
          <p:nvPr/>
        </p:nvSpPr>
        <p:spPr>
          <a:xfrm>
            <a:off x="10239920" y="1505656"/>
            <a:ext cx="720000" cy="72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558D300-5247-F7D0-A9E3-EC6BB8B25D95}"/>
              </a:ext>
            </a:extLst>
          </p:cNvPr>
          <p:cNvCxnSpPr>
            <a:cxnSpLocks/>
          </p:cNvCxnSpPr>
          <p:nvPr/>
        </p:nvCxnSpPr>
        <p:spPr>
          <a:xfrm>
            <a:off x="9363117" y="1819716"/>
            <a:ext cx="682281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3D2068E7-F93F-650C-9E3E-E161C35578BA}"/>
              </a:ext>
            </a:extLst>
          </p:cNvPr>
          <p:cNvSpPr/>
          <p:nvPr/>
        </p:nvSpPr>
        <p:spPr>
          <a:xfrm>
            <a:off x="8226361" y="4010869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A54614BC-140C-E2B9-C249-D8AB8DDA97A5}"/>
              </a:ext>
            </a:extLst>
          </p:cNvPr>
          <p:cNvSpPr/>
          <p:nvPr/>
        </p:nvSpPr>
        <p:spPr>
          <a:xfrm>
            <a:off x="10903419" y="3519886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C384BCF4-1CB7-BAE5-DF02-C37C643BCB4D}"/>
              </a:ext>
            </a:extLst>
          </p:cNvPr>
          <p:cNvSpPr/>
          <p:nvPr/>
        </p:nvSpPr>
        <p:spPr>
          <a:xfrm>
            <a:off x="8550908" y="3360560"/>
            <a:ext cx="394363" cy="375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45B409A-DFAD-DC49-7AB5-557F0C11FA20}"/>
              </a:ext>
            </a:extLst>
          </p:cNvPr>
          <p:cNvSpPr/>
          <p:nvPr/>
        </p:nvSpPr>
        <p:spPr>
          <a:xfrm>
            <a:off x="11117573" y="4084814"/>
            <a:ext cx="394363" cy="375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619361B6-4053-B97F-10B0-C2542BCA6DBD}"/>
              </a:ext>
            </a:extLst>
          </p:cNvPr>
          <p:cNvSpPr/>
          <p:nvPr/>
        </p:nvSpPr>
        <p:spPr>
          <a:xfrm>
            <a:off x="8548571" y="4578852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6EBF4C7F-A617-7F95-F2AE-476F1F2DB079}"/>
              </a:ext>
            </a:extLst>
          </p:cNvPr>
          <p:cNvSpPr/>
          <p:nvPr/>
        </p:nvSpPr>
        <p:spPr>
          <a:xfrm>
            <a:off x="10225943" y="4954492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8790AB34-CC7A-9F36-7831-1ECF6706E6B6}"/>
              </a:ext>
            </a:extLst>
          </p:cNvPr>
          <p:cNvSpPr/>
          <p:nvPr/>
        </p:nvSpPr>
        <p:spPr>
          <a:xfrm>
            <a:off x="10111942" y="3103697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B46D8B33-70E2-A2BB-593D-0C81B66495C9}"/>
              </a:ext>
            </a:extLst>
          </p:cNvPr>
          <p:cNvSpPr/>
          <p:nvPr/>
        </p:nvSpPr>
        <p:spPr>
          <a:xfrm>
            <a:off x="9237730" y="3083112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CE76419-E7A6-4421-C163-53268F6D1A59}"/>
              </a:ext>
            </a:extLst>
          </p:cNvPr>
          <p:cNvSpPr/>
          <p:nvPr/>
        </p:nvSpPr>
        <p:spPr>
          <a:xfrm>
            <a:off x="9309894" y="4987774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11637C5D-37D6-D630-7F51-1A91BF132FA2}"/>
              </a:ext>
            </a:extLst>
          </p:cNvPr>
          <p:cNvSpPr/>
          <p:nvPr/>
        </p:nvSpPr>
        <p:spPr>
          <a:xfrm>
            <a:off x="10816195" y="4677532"/>
            <a:ext cx="394363" cy="3756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078495"/>
      </p:ext>
    </p:extLst>
  </p:cSld>
  <p:clrMapOvr>
    <a:masterClrMapping/>
  </p:clrMapOvr>
</p:sld>
</file>

<file path=ppt/theme/theme1.xml><?xml version="1.0" encoding="utf-8"?>
<a:theme xmlns:a="http://schemas.openxmlformats.org/drawingml/2006/main" name="和文テンプレート 16: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游ゴシック Medium"/>
        <a:cs typeface=""/>
      </a:majorFont>
      <a:minorFont>
        <a:latin typeface="Cambria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6072503B-ADD1-4FB2-9506-4673BBFB253B}" vid="{9BF21BB8-BDE7-4029-A4C1-2ABDE05E95D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929E277CEABD04FB4D30EEEA493A862" ma:contentTypeVersion="15" ma:contentTypeDescription="新しいドキュメントを作成します。" ma:contentTypeScope="" ma:versionID="9e65660d5d4084ae4d300efd08683624">
  <xsd:schema xmlns:xsd="http://www.w3.org/2001/XMLSchema" xmlns:xs="http://www.w3.org/2001/XMLSchema" xmlns:p="http://schemas.microsoft.com/office/2006/metadata/properties" xmlns:ns2="37771f86-04af-4f1a-9164-61bb8eea7179" xmlns:ns3="f36ae75d-eb98-491d-be71-c4c1356f0a4f" targetNamespace="http://schemas.microsoft.com/office/2006/metadata/properties" ma:root="true" ma:fieldsID="cced8c5e29b0f598e727181a2173b0a1" ns2:_="" ns3:_="">
    <xsd:import namespace="37771f86-04af-4f1a-9164-61bb8eea7179"/>
    <xsd:import namespace="f36ae75d-eb98-491d-be71-c4c1356f0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_x78ba__x8a8d__x8005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771f86-04af-4f1a-9164-61bb8eea71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x78ba__x8a8d__x8005_" ma:index="19" nillable="true" ma:displayName="確認者" ma:format="Dropdown" ma:list="UserInfo" ma:SharePointGroup="0" ma:internalName="_x78ba__x8a8d__x8005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2efd359d-3c5a-4c81-9434-f8d76cbcb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ae75d-eb98-491d-be71-c4c1356f0a4f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a452070a-155d-4e1f-a296-338b9a9aa0ff}" ma:internalName="TaxCatchAll" ma:showField="CatchAllData" ma:web="f36ae75d-eb98-491d-be71-c4c1356f0a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771f86-04af-4f1a-9164-61bb8eea7179">
      <Terms xmlns="http://schemas.microsoft.com/office/infopath/2007/PartnerControls"/>
    </lcf76f155ced4ddcb4097134ff3c332f>
    <_x78ba__x8a8d__x8005_ xmlns="37771f86-04af-4f1a-9164-61bb8eea7179">
      <UserInfo>
        <DisplayName/>
        <AccountId xsi:nil="true"/>
        <AccountType/>
      </UserInfo>
    </_x78ba__x8a8d__x8005_>
    <TaxCatchAll xmlns="f36ae75d-eb98-491d-be71-c4c1356f0a4f" xsi:nil="true"/>
  </documentManagement>
</p:properties>
</file>

<file path=customXml/itemProps1.xml><?xml version="1.0" encoding="utf-8"?>
<ds:datastoreItem xmlns:ds="http://schemas.openxmlformats.org/officeDocument/2006/customXml" ds:itemID="{D02CD4DF-6DCE-488A-A3A1-B7C2B9910F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F331A1-6069-454E-8D24-5D47C9E667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771f86-04af-4f1a-9164-61bb8eea7179"/>
    <ds:schemaRef ds:uri="f36ae75d-eb98-491d-be71-c4c1356f0a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D5C4EF-3510-46D3-8BB3-56ADE720204D}">
  <ds:schemaRefs>
    <ds:schemaRef ds:uri="http://purl.org/dc/elements/1.1/"/>
    <ds:schemaRef ds:uri="5efff5ca-9d38-4482-9df5-21866b041614"/>
    <ds:schemaRef ds:uri="http://purl.org/dc/dcmitype/"/>
    <ds:schemaRef ds:uri="http://schemas.microsoft.com/office/2006/metadata/properties"/>
    <ds:schemaRef ds:uri="03236438-153b-4c32-8ac2-5593e01254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37771f86-04af-4f1a-9164-61bb8eea7179"/>
    <ds:schemaRef ds:uri="f36ae75d-eb98-491d-be71-c4c1356f0a4f"/>
  </ds:schemaRefs>
</ds:datastoreItem>
</file>

<file path=docMetadata/LabelInfo.xml><?xml version="1.0" encoding="utf-8"?>
<clbl:labelList xmlns:clbl="http://schemas.microsoft.com/office/2020/mipLabelMetadata">
  <clbl:label id="{ddc55989-3c9e-4466-8514-eac6f80f6373}" enabled="1" method="Privileged" siteId="{18a7fec8-652f-409b-8369-272d9ce806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pptテンプレver2</Template>
  <TotalTime>81</TotalTime>
  <Words>240</Words>
  <Application>Microsoft Office PowerPoint</Application>
  <PresentationFormat>ワイド画面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Arial</vt:lpstr>
      <vt:lpstr>Cambria</vt:lpstr>
      <vt:lpstr>Wingdings</vt:lpstr>
      <vt:lpstr>和文テンプレート 16:9</vt:lpstr>
      <vt:lpstr>我慢戦略（先行研究的には寛容性）</vt:lpstr>
      <vt:lpstr>問題の背景</vt:lpstr>
      <vt:lpstr>問題の背景</vt:lpstr>
      <vt:lpstr>モデル（和田君のモデルと同じ？近い？）</vt:lpstr>
      <vt:lpstr>モデル（和田君のモデルと同じ？近い？）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梅谷凌平</dc:creator>
  <cp:lastModifiedBy>梅谷凌平</cp:lastModifiedBy>
  <cp:revision>1</cp:revision>
  <dcterms:created xsi:type="dcterms:W3CDTF">2026-08-03T02:08:28Z</dcterms:created>
  <dcterms:modified xsi:type="dcterms:W3CDTF">2026-08-03T03:29:47Z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0x010100C929E277CEABD04FB4D30EEEA493A862</vt:lpwstr>
  </property>
  <property fmtid="{D5CDD505-2E9C-101B-9397-08002B2CF9AE}" pid="3" name="MSIP_Label_ddc55989-3c9e-4466-8514-eac6f80f6373_Enabled">
    <vt:lpwstr>true</vt:lpwstr>
  </property>
  <property fmtid="{D5CDD505-2E9C-101B-9397-08002B2CF9AE}" pid="4" name="MSIP_Label_ddc55989-3c9e-4466-8514-eac6f80f6373_SetDate">
    <vt:lpwstr>2022-05-24T05:52:58Z</vt:lpwstr>
  </property>
  <property fmtid="{D5CDD505-2E9C-101B-9397-08002B2CF9AE}" pid="5" name="MSIP_Label_ddc55989-3c9e-4466-8514-eac6f80f6373_Method">
    <vt:lpwstr>Privileged</vt:lpwstr>
  </property>
  <property fmtid="{D5CDD505-2E9C-101B-9397-08002B2CF9AE}" pid="6" name="MSIP_Label_ddc55989-3c9e-4466-8514-eac6f80f6373_Name">
    <vt:lpwstr>ddc55989-3c9e-4466-8514-eac6f80f6373</vt:lpwstr>
  </property>
  <property fmtid="{D5CDD505-2E9C-101B-9397-08002B2CF9AE}" pid="7" name="MSIP_Label_ddc55989-3c9e-4466-8514-eac6f80f6373_SiteId">
    <vt:lpwstr>18a7fec8-652f-409b-8369-272d9ce80620</vt:lpwstr>
  </property>
  <property fmtid="{D5CDD505-2E9C-101B-9397-08002B2CF9AE}" pid="8" name="MSIP_Label_ddc55989-3c9e-4466-8514-eac6f80f6373_ActionId">
    <vt:lpwstr>eb3dad7d-e409-4be9-92b5-5122b09af7fe</vt:lpwstr>
  </property>
  <property fmtid="{D5CDD505-2E9C-101B-9397-08002B2CF9AE}" pid="9" name="MSIP_Label_ddc55989-3c9e-4466-8514-eac6f80f6373_ContentBits">
    <vt:lpwstr>0</vt:lpwstr>
  </property>
</Properties>
</file>